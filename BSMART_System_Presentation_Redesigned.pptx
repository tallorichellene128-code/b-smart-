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237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2384A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-731520" y="4937760"/>
            <a:ext cx="1828800" cy="1828800"/>
          </a:xfrm>
          <a:prstGeom prst="ellipse">
            <a:avLst/>
          </a:prstGeom>
          <a:solidFill>
            <a:srgbClr val="12384A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305" y="4572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8046720" y="-1005840"/>
            <a:ext cx="4754880" cy="4754880"/>
          </a:xfrm>
          <a:prstGeom prst="ellipse">
            <a:avLst/>
          </a:prstGeom>
          <a:solidFill>
            <a:srgbClr val="12384A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-1188720" y="4206240"/>
            <a:ext cx="2743200" cy="2743200"/>
          </a:xfrm>
          <a:prstGeom prst="ellipse">
            <a:avLst/>
          </a:prstGeom>
          <a:solidFill>
            <a:srgbClr val="12384A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676656" y="768096"/>
            <a:ext cx="292608" cy="36576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1069848" y="6949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PRESENTATION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12344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B-SMART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76656" y="1965960"/>
            <a:ext cx="630936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DEAF2"/>
                </a:solidFill>
              </a:rPr>
              <a:t>Barangay System for Monitoring, Access, and Record of Treatment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" y="2871216"/>
            <a:ext cx="608076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" y="4160520"/>
            <a:ext cx="21031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877824" y="42793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B703"/>
                </a:solidFill>
              </a:rPr>
              <a:t>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673352" y="4361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User Roles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36392" y="42793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931920" y="4361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75988" y="4160520"/>
            <a:ext cx="23317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21" name="Text 19"/>
          <p:cNvSpPr/>
          <p:nvPr/>
        </p:nvSpPr>
        <p:spPr>
          <a:xfrm>
            <a:off x="4645152" y="4334256"/>
            <a:ext cx="1527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F476F"/>
                </a:solidFill>
              </a:rPr>
              <a:t>MySQL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669280" y="436168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Database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21040" y="1207008"/>
            <a:ext cx="2286000" cy="2286000"/>
          </a:xfrm>
          <a:prstGeom prst="roundRect">
            <a:avLst>
              <a:gd name="adj" fmla="val 5600"/>
            </a:avLst>
          </a:prstGeom>
          <a:solidFill>
            <a:srgbClr val="14394C"/>
          </a:solidFill>
          <a:ln w="12700">
            <a:solidFill>
              <a:srgbClr val="2C5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8924544" y="144475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400" dirty="0"/>
          </a:p>
        </p:txBody>
      </p:sp>
      <p:sp>
        <p:nvSpPr>
          <p:cNvPr id="25" name="Text 23"/>
          <p:cNvSpPr/>
          <p:nvPr/>
        </p:nvSpPr>
        <p:spPr>
          <a:xfrm>
            <a:off x="7891272" y="3886200"/>
            <a:ext cx="32461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6492240"/>
            <a:ext cx="10972800" cy="0"/>
          </a:xfrm>
          <a:prstGeom prst="line">
            <a:avLst/>
          </a:prstGeom>
          <a:noFill/>
          <a:ln w="8890">
            <a:solidFill>
              <a:srgbClr val="31596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603504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FB8C4"/>
                </a:solidFill>
              </a:rPr>
              <a:t>B-SMART Barangay Health Monitoring System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265408" y="6519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B703"/>
                </a:solidFill>
              </a:rPr>
              <a:t>01</a:t>
            </a:r>
            <a:endParaRPr lang="en-US" sz="750" dirty="0"/>
          </a:p>
        </p:txBody>
      </p:sp>
      <p:pic>
        <p:nvPicPr>
          <p:cNvPr id="30" name="Picture 29" descr="A green shield with a white cross and stethoscope&#10;&#10;AI-generated content may be incorrect.">
            <a:extLst>
              <a:ext uri="{FF2B5EF4-FFF2-40B4-BE49-F238E27FC236}">
                <a16:creationId xmlns:a16="http://schemas.microsoft.com/office/drawing/2014/main" id="{480CD9F7-C033-B3EE-AF6C-9699EA3CA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539" y="1220725"/>
            <a:ext cx="3874769" cy="25831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-731520" y="4937760"/>
            <a:ext cx="1828800" cy="182880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603504" y="512064"/>
            <a:ext cx="292608" cy="36576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996696" y="438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7E8B"/>
                </a:solidFill>
                <a:latin typeface="Aptos" pitchFamily="34" charset="0"/>
              </a:rPr>
              <a:t>INTRODUCTION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3504" y="749808"/>
            <a:ext cx="836676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dirty="0"/>
              <a:t>INTRODUCTION</a:t>
            </a:r>
          </a:p>
        </p:txBody>
      </p:sp>
      <p:sp>
        <p:nvSpPr>
          <p:cNvPr id="9" name="Text 7"/>
          <p:cNvSpPr/>
          <p:nvPr/>
        </p:nvSpPr>
        <p:spPr>
          <a:xfrm>
            <a:off x="621792" y="1417320"/>
            <a:ext cx="76809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41832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99032" y="2926079"/>
            <a:ext cx="1417320" cy="4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401567"/>
            <a:ext cx="1920240" cy="13715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30752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1700784"/>
            <a:ext cx="10764520" cy="303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b="1" dirty="0"/>
          </a:p>
          <a:p>
            <a:r>
              <a:rPr lang="en-US" dirty="0"/>
              <a:t>B-SMART is a barangay health monitoring system developed to improve the management of resident health records, appointments, reports, and inventory. The system was designed using C# Windows Forms and MySQL database technology.</a:t>
            </a:r>
          </a:p>
          <a:p>
            <a:endParaRPr lang="en-US" dirty="0"/>
          </a:p>
          <a:p>
            <a:r>
              <a:rPr lang="en-US" dirty="0"/>
              <a:t>The project helps barangay personnel organize information digitally instead of relying on manual paper-based records. Through this system, users can easily store, update, retrieve, and monitor health-related data.</a:t>
            </a:r>
          </a:p>
          <a:p>
            <a:r>
              <a:rPr lang="en-US" dirty="0"/>
              <a:t>The system also improves communication between residents and barangay health workers by allowing appointment scheduling and notifications.</a:t>
            </a:r>
          </a:p>
        </p:txBody>
      </p:sp>
      <p:sp>
        <p:nvSpPr>
          <p:cNvPr id="18" name="Text 16"/>
          <p:cNvSpPr/>
          <p:nvPr/>
        </p:nvSpPr>
        <p:spPr>
          <a:xfrm>
            <a:off x="3749040" y="3401568"/>
            <a:ext cx="1920240" cy="137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9672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68312" y="2926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3401567"/>
            <a:ext cx="1920240" cy="13167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08592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57232" y="29260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26880" y="3401567"/>
            <a:ext cx="1920240" cy="131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4360" y="6492240"/>
            <a:ext cx="10972800" cy="0"/>
          </a:xfrm>
          <a:prstGeom prst="line">
            <a:avLst/>
          </a:prstGeom>
          <a:noFill/>
          <a:ln w="8890">
            <a:solidFill>
              <a:srgbClr val="C6DDE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603504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C7B88"/>
                </a:solidFill>
              </a:rPr>
              <a:t>B-SMART Barangay Health Monitoring System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11265408" y="6519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87E8B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-731520" y="4937760"/>
            <a:ext cx="1828800" cy="182880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603504" y="512064"/>
            <a:ext cx="292608" cy="36576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996696" y="438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3504" y="749808"/>
            <a:ext cx="83667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</a:rPr>
              <a:t>STATEMENT OF THE PROBLEM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19"/>
            <a:ext cx="73152" cy="3713479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886968" y="203911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86968" y="1499615"/>
            <a:ext cx="10268712" cy="4393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r>
              <a:rPr lang="en-US" dirty="0"/>
              <a:t>Many barangays still use manual recording systems for health information. Because of this, several problems may occur: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Resident records are difficult to organize.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files become duplicated or lost.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Health reports take a long time to prepare.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Monitoring medicines and vaccines becomes difficult.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Appointment processing is slow and inefficient.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Important notifications may be missed.</a:t>
            </a:r>
          </a:p>
          <a:p>
            <a:endParaRPr lang="en-US" dirty="0"/>
          </a:p>
          <a:p>
            <a:r>
              <a:rPr lang="en-US" dirty="0"/>
              <a:t>These problems affect the efficiency of barangay health services and delay important health operations.</a:t>
            </a:r>
          </a:p>
        </p:txBody>
      </p:sp>
      <p:sp>
        <p:nvSpPr>
          <p:cNvPr id="15" name="Text 13"/>
          <p:cNvSpPr/>
          <p:nvPr/>
        </p:nvSpPr>
        <p:spPr>
          <a:xfrm>
            <a:off x="886968" y="423367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86968" y="4599432"/>
            <a:ext cx="4599432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6903720" y="24231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235440" y="24048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903720" y="2679192"/>
            <a:ext cx="2971800" cy="64008"/>
          </a:xfrm>
          <a:prstGeom prst="rect">
            <a:avLst/>
          </a:prstGeom>
          <a:solidFill>
            <a:srgbClr val="DDEB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6903720" y="31546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235440" y="31363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903720" y="3410712"/>
            <a:ext cx="2971800" cy="64008"/>
          </a:xfrm>
          <a:prstGeom prst="rect">
            <a:avLst/>
          </a:prstGeom>
          <a:solidFill>
            <a:srgbClr val="DDEB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6903720" y="38862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235440" y="38679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903720" y="4142232"/>
            <a:ext cx="2971800" cy="64008"/>
          </a:xfrm>
          <a:prstGeom prst="rect">
            <a:avLst/>
          </a:prstGeom>
          <a:solidFill>
            <a:srgbClr val="DDEB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6903720" y="4617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235440" y="45994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94360" y="6492240"/>
            <a:ext cx="10972800" cy="0"/>
          </a:xfrm>
          <a:prstGeom prst="line">
            <a:avLst/>
          </a:prstGeom>
          <a:noFill/>
          <a:ln w="8890">
            <a:solidFill>
              <a:srgbClr val="C6DDE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5" name="Text 33"/>
          <p:cNvSpPr/>
          <p:nvPr/>
        </p:nvSpPr>
        <p:spPr>
          <a:xfrm>
            <a:off x="603504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C7B88"/>
                </a:solidFill>
              </a:rPr>
              <a:t>B-SMART Barangay Health Monitoring System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1265408" y="6519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87E8B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320"/>
            <a:ext cx="12191695" cy="6858000"/>
          </a:xfrm>
          <a:prstGeom prst="rect">
            <a:avLst/>
          </a:prstGeom>
          <a:solidFill>
            <a:srgbClr val="F7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4" name="Shape 2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5" name="Shape 3"/>
          <p:cNvSpPr/>
          <p:nvPr/>
        </p:nvSpPr>
        <p:spPr>
          <a:xfrm>
            <a:off x="-731520" y="4937760"/>
            <a:ext cx="1828800" cy="182880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6" name="Shape 4"/>
          <p:cNvSpPr/>
          <p:nvPr/>
        </p:nvSpPr>
        <p:spPr>
          <a:xfrm>
            <a:off x="603504" y="512064"/>
            <a:ext cx="292608" cy="36576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7" name="Text 5"/>
          <p:cNvSpPr/>
          <p:nvPr/>
        </p:nvSpPr>
        <p:spPr>
          <a:xfrm>
            <a:off x="996696" y="438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 &amp; LIMITATIONS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" y="749808"/>
            <a:ext cx="83667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system improves visibility while staying within a desktop barangay workflow.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260604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0" name="Shape 8"/>
          <p:cNvSpPr/>
          <p:nvPr/>
        </p:nvSpPr>
        <p:spPr>
          <a:xfrm>
            <a:off x="685800" y="1920240"/>
            <a:ext cx="73152" cy="1133856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1" name="Text 9"/>
          <p:cNvSpPr/>
          <p:nvPr/>
        </p:nvSpPr>
        <p:spPr>
          <a:xfrm>
            <a:off x="886968" y="2084832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Centralize records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2450592"/>
            <a:ext cx="2221992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Store resident accounts and health records in one MySQL-backed system.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0" y="1920240"/>
            <a:ext cx="260604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4" name="Shape 12"/>
          <p:cNvSpPr/>
          <p:nvPr/>
        </p:nvSpPr>
        <p:spPr>
          <a:xfrm>
            <a:off x="3657600" y="1920240"/>
            <a:ext cx="73152" cy="1133856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5" name="Text 13"/>
          <p:cNvSpPr/>
          <p:nvPr/>
        </p:nvSpPr>
        <p:spPr>
          <a:xfrm>
            <a:off x="3858768" y="2084832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Generate reports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58768" y="2450592"/>
            <a:ext cx="2221992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Show barangay health report metrics by week, month, or year.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3401568"/>
            <a:ext cx="2606040" cy="142646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8" name="Shape 16"/>
          <p:cNvSpPr/>
          <p:nvPr/>
        </p:nvSpPr>
        <p:spPr>
          <a:xfrm>
            <a:off x="685800" y="3401568"/>
            <a:ext cx="73152" cy="1426464"/>
          </a:xfrm>
          <a:prstGeom prst="rect">
            <a:avLst/>
          </a:prstGeom>
          <a:solidFill>
            <a:srgbClr val="2FB3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9" name="Text 17"/>
          <p:cNvSpPr/>
          <p:nvPr/>
        </p:nvSpPr>
        <p:spPr>
          <a:xfrm>
            <a:off x="886968" y="356616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Manage appointments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968" y="3822192"/>
            <a:ext cx="2221992" cy="96011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Let residents book services and notify staff when approval is needed.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0" y="3401568"/>
            <a:ext cx="260604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2" name="Shape 20"/>
          <p:cNvSpPr/>
          <p:nvPr/>
        </p:nvSpPr>
        <p:spPr>
          <a:xfrm>
            <a:off x="3657600" y="3401568"/>
            <a:ext cx="73152" cy="1133856"/>
          </a:xfrm>
          <a:prstGeom prst="rect">
            <a:avLst/>
          </a:prstGeom>
          <a:solidFill>
            <a:srgbClr val="EF476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3" name="Text 21"/>
          <p:cNvSpPr/>
          <p:nvPr/>
        </p:nvSpPr>
        <p:spPr>
          <a:xfrm>
            <a:off x="3858768" y="356616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Control inventory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58768" y="3931920"/>
            <a:ext cx="2221992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Track medicines and vaccines, including near-expiry archive behavior.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1920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78040" y="1737360"/>
            <a:ext cx="3840480" cy="26883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486581"/>
                </a:solidFill>
              </a:rPr>
              <a:t>Desktop-based Windows Forms application</a:t>
            </a:r>
            <a:endParaRPr lang="en-US" sz="1600" dirty="0"/>
          </a:p>
          <a:p>
            <a:r>
              <a:rPr lang="en-US" sz="1600" dirty="0">
                <a:solidFill>
                  <a:srgbClr val="486581"/>
                </a:solidFill>
              </a:rPr>
              <a:t>Depends on local MySQL database availability</a:t>
            </a:r>
            <a:endParaRPr lang="en-US" sz="1600" dirty="0"/>
          </a:p>
          <a:p>
            <a:r>
              <a:rPr lang="en-US" sz="1600" dirty="0">
                <a:solidFill>
                  <a:srgbClr val="486581"/>
                </a:solidFill>
              </a:rPr>
              <a:t>Manual data input still required for health and resident records</a:t>
            </a:r>
            <a:endParaRPr lang="en-US" sz="1600" dirty="0"/>
          </a:p>
          <a:p>
            <a:r>
              <a:rPr lang="en-US" sz="1600" dirty="0">
                <a:solidFill>
                  <a:srgbClr val="486581"/>
                </a:solidFill>
              </a:rPr>
              <a:t>Access is role-scoped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4360" y="6492240"/>
            <a:ext cx="10972800" cy="0"/>
          </a:xfrm>
          <a:prstGeom prst="line">
            <a:avLst/>
          </a:prstGeom>
          <a:noFill/>
          <a:ln w="8890">
            <a:solidFill>
              <a:srgbClr val="C6DDE6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8" name="Text 26"/>
          <p:cNvSpPr/>
          <p:nvPr/>
        </p:nvSpPr>
        <p:spPr>
          <a:xfrm>
            <a:off x="603504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7B88"/>
                </a:solidFill>
              </a:rPr>
              <a:t>B-SMART Barangay Health Monitoring System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265408" y="6519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7E8B"/>
                </a:solidFill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4" name="Shape 2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5" name="Shape 3"/>
          <p:cNvSpPr/>
          <p:nvPr/>
        </p:nvSpPr>
        <p:spPr>
          <a:xfrm>
            <a:off x="-731520" y="4937760"/>
            <a:ext cx="1828800" cy="182880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6" name="Shape 4"/>
          <p:cNvSpPr/>
          <p:nvPr/>
        </p:nvSpPr>
        <p:spPr>
          <a:xfrm>
            <a:off x="603504" y="512064"/>
            <a:ext cx="292608" cy="36576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7" name="Text 5"/>
          <p:cNvSpPr/>
          <p:nvPr/>
        </p:nvSpPr>
        <p:spPr>
          <a:xfrm>
            <a:off x="996696" y="438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TYPES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" y="749808"/>
            <a:ext cx="83667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account sees the same health picture through a different permission scope.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1965960"/>
            <a:ext cx="49834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73152" cy="1298448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1" name="Text 9"/>
          <p:cNvSpPr/>
          <p:nvPr/>
        </p:nvSpPr>
        <p:spPr>
          <a:xfrm>
            <a:off x="886968" y="213055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Mayor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2496312"/>
            <a:ext cx="4599432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Views overall resident records, reports, barangay health summaries, inventory by barangay, and notifications.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70248" y="2148840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F7FBFC"/>
          </a:solidFill>
          <a:ln w="12700">
            <a:solidFill>
              <a:srgbClr val="00A9A5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4" name="Text 12"/>
          <p:cNvSpPr/>
          <p:nvPr/>
        </p:nvSpPr>
        <p:spPr>
          <a:xfrm>
            <a:off x="4343400" y="2221992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9A5"/>
                </a:solidFill>
              </a:rPr>
              <a:t>OVERALL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1965960"/>
            <a:ext cx="49834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6" name="Shape 14"/>
          <p:cNvSpPr/>
          <p:nvPr/>
        </p:nvSpPr>
        <p:spPr>
          <a:xfrm>
            <a:off x="6263640" y="1965960"/>
            <a:ext cx="73152" cy="1298448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7" name="Text 15"/>
          <p:cNvSpPr/>
          <p:nvPr/>
        </p:nvSpPr>
        <p:spPr>
          <a:xfrm>
            <a:off x="6464808" y="213055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LGU Staff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4808" y="2496312"/>
            <a:ext cx="4599432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Manages barangay health records, resident appointments, inventory, reports, archive, and approvals.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48088" y="2148840"/>
            <a:ext cx="1216152" cy="274320"/>
          </a:xfrm>
          <a:prstGeom prst="roundRect">
            <a:avLst>
              <a:gd name="adj" fmla="val 14706"/>
            </a:avLst>
          </a:prstGeom>
          <a:solidFill>
            <a:srgbClr val="F7FBFC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0" name="Text 18"/>
          <p:cNvSpPr/>
          <p:nvPr/>
        </p:nvSpPr>
        <p:spPr>
          <a:xfrm>
            <a:off x="9921240" y="2221992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703"/>
                </a:solidFill>
              </a:rPr>
              <a:t>BARANGAY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3657600"/>
            <a:ext cx="49834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2" name="Shape 20"/>
          <p:cNvSpPr/>
          <p:nvPr/>
        </p:nvSpPr>
        <p:spPr>
          <a:xfrm>
            <a:off x="685800" y="3657600"/>
            <a:ext cx="73152" cy="1298448"/>
          </a:xfrm>
          <a:prstGeom prst="rect">
            <a:avLst/>
          </a:prstGeom>
          <a:solidFill>
            <a:srgbClr val="EF476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3" name="Text 21"/>
          <p:cNvSpPr/>
          <p:nvPr/>
        </p:nvSpPr>
        <p:spPr>
          <a:xfrm>
            <a:off x="886968" y="382219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Barangay Captain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6968" y="4187952"/>
            <a:ext cx="4599432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Views barangay-scoped residents, accounts, frozen accounts, records, reports, archive, and notifications.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70248" y="3840480"/>
            <a:ext cx="1344168" cy="310895"/>
          </a:xfrm>
          <a:prstGeom prst="roundRect">
            <a:avLst>
              <a:gd name="adj" fmla="val 14706"/>
            </a:avLst>
          </a:prstGeom>
          <a:solidFill>
            <a:srgbClr val="F7FBFC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6" name="Text 24"/>
          <p:cNvSpPr/>
          <p:nvPr/>
        </p:nvSpPr>
        <p:spPr>
          <a:xfrm>
            <a:off x="4343400" y="39136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76F"/>
                </a:solidFill>
              </a:rPr>
              <a:t>BARANGAY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63640" y="3657600"/>
            <a:ext cx="498348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8" name="Shape 26"/>
          <p:cNvSpPr/>
          <p:nvPr/>
        </p:nvSpPr>
        <p:spPr>
          <a:xfrm>
            <a:off x="6263640" y="3657600"/>
            <a:ext cx="73152" cy="1298448"/>
          </a:xfrm>
          <a:prstGeom prst="rect">
            <a:avLst/>
          </a:prstGeom>
          <a:solidFill>
            <a:srgbClr val="2FB3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9" name="Text 27"/>
          <p:cNvSpPr/>
          <p:nvPr/>
        </p:nvSpPr>
        <p:spPr>
          <a:xfrm>
            <a:off x="6464808" y="382219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Resident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64808" y="4187952"/>
            <a:ext cx="4599432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Books appointments, views own health records, receives approval notifications, downloads medical-certificate-style record.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848088" y="3840480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F7FBFC"/>
          </a:solidFill>
          <a:ln w="12700">
            <a:solidFill>
              <a:srgbClr val="2FB344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32" name="Text 30"/>
          <p:cNvSpPr/>
          <p:nvPr/>
        </p:nvSpPr>
        <p:spPr>
          <a:xfrm>
            <a:off x="9921240" y="3913632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B344"/>
                </a:solidFill>
              </a:rPr>
              <a:t>SELF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4360" y="6492240"/>
            <a:ext cx="10972800" cy="0"/>
          </a:xfrm>
          <a:prstGeom prst="line">
            <a:avLst/>
          </a:prstGeom>
          <a:noFill/>
          <a:ln w="8890">
            <a:solidFill>
              <a:srgbClr val="C6DDE6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34" name="Text 32"/>
          <p:cNvSpPr/>
          <p:nvPr/>
        </p:nvSpPr>
        <p:spPr>
          <a:xfrm>
            <a:off x="603504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7B88"/>
                </a:solidFill>
              </a:rPr>
              <a:t>B-SMART Barangay Health Monitoring System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65408" y="6519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7E8B"/>
                </a:solidFill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4" name="Shape 2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2384A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5" name="Shape 3"/>
          <p:cNvSpPr/>
          <p:nvPr/>
        </p:nvSpPr>
        <p:spPr>
          <a:xfrm>
            <a:off x="-731520" y="4937760"/>
            <a:ext cx="1828800" cy="1828800"/>
          </a:xfrm>
          <a:prstGeom prst="ellipse">
            <a:avLst/>
          </a:prstGeom>
          <a:solidFill>
            <a:srgbClr val="12384A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6" name="Shape 4"/>
          <p:cNvSpPr/>
          <p:nvPr/>
        </p:nvSpPr>
        <p:spPr>
          <a:xfrm>
            <a:off x="603504" y="512064"/>
            <a:ext cx="292608" cy="36576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7" name="Text 5"/>
          <p:cNvSpPr/>
          <p:nvPr/>
        </p:nvSpPr>
        <p:spPr>
          <a:xfrm>
            <a:off x="996696" y="438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TOOLS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" y="749808"/>
            <a:ext cx="83667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B-SMART is built as a desktop health system with a relational data core.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1792" y="1417320"/>
            <a:ext cx="76809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14394C"/>
          </a:solidFill>
          <a:ln w="12700">
            <a:solidFill>
              <a:srgbClr val="2C5A6B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1" name="Shape 9"/>
          <p:cNvSpPr/>
          <p:nvPr/>
        </p:nvSpPr>
        <p:spPr>
          <a:xfrm>
            <a:off x="777240" y="2103120"/>
            <a:ext cx="73152" cy="914400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2" name="Text 10"/>
          <p:cNvSpPr/>
          <p:nvPr/>
        </p:nvSpPr>
        <p:spPr>
          <a:xfrm>
            <a:off x="978408" y="226771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C#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8408" y="2633472"/>
            <a:ext cx="267919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4E4EA"/>
                </a:solidFill>
              </a:rPr>
              <a:t>Primary programming language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80560" y="21031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14394C"/>
          </a:solidFill>
          <a:ln w="12700">
            <a:solidFill>
              <a:srgbClr val="2C5A6B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5" name="Shape 13"/>
          <p:cNvSpPr/>
          <p:nvPr/>
        </p:nvSpPr>
        <p:spPr>
          <a:xfrm>
            <a:off x="4480560" y="2103120"/>
            <a:ext cx="73152" cy="914400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6" name="Text 14"/>
          <p:cNvSpPr/>
          <p:nvPr/>
        </p:nvSpPr>
        <p:spPr>
          <a:xfrm>
            <a:off x="4681728" y="226771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.NET WinForms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81728" y="2633472"/>
            <a:ext cx="267919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4E4EA"/>
                </a:solidFill>
              </a:rPr>
              <a:t>Desktop UI framework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83880" y="210312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14394C"/>
          </a:solidFill>
          <a:ln w="12700">
            <a:solidFill>
              <a:srgbClr val="2C5A6B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9" name="Shape 17"/>
          <p:cNvSpPr/>
          <p:nvPr/>
        </p:nvSpPr>
        <p:spPr>
          <a:xfrm>
            <a:off x="8183880" y="2103120"/>
            <a:ext cx="73152" cy="914400"/>
          </a:xfrm>
          <a:prstGeom prst="rect">
            <a:avLst/>
          </a:prstGeom>
          <a:solidFill>
            <a:srgbClr val="EF476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0" name="Text 18"/>
          <p:cNvSpPr/>
          <p:nvPr/>
        </p:nvSpPr>
        <p:spPr>
          <a:xfrm>
            <a:off x="8385048" y="226771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MySQL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5048" y="2633472"/>
            <a:ext cx="267919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4E4EA"/>
                </a:solidFill>
              </a:rPr>
              <a:t>Relational database storage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240" y="352044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14394C"/>
          </a:solidFill>
          <a:ln w="12700">
            <a:solidFill>
              <a:srgbClr val="2C5A6B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3" name="Shape 21"/>
          <p:cNvSpPr/>
          <p:nvPr/>
        </p:nvSpPr>
        <p:spPr>
          <a:xfrm>
            <a:off x="777240" y="3520440"/>
            <a:ext cx="73152" cy="914400"/>
          </a:xfrm>
          <a:prstGeom prst="rect">
            <a:avLst/>
          </a:prstGeom>
          <a:solidFill>
            <a:srgbClr val="2FB3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4" name="Text 22"/>
          <p:cNvSpPr/>
          <p:nvPr/>
        </p:nvSpPr>
        <p:spPr>
          <a:xfrm>
            <a:off x="978408" y="368503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Visual Studio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8408" y="4050792"/>
            <a:ext cx="267919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4E4EA"/>
                </a:solidFill>
              </a:rPr>
              <a:t>IDE and form designer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80560" y="352044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14394C"/>
          </a:solidFill>
          <a:ln w="12700">
            <a:solidFill>
              <a:srgbClr val="2C5A6B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7" name="Shape 25"/>
          <p:cNvSpPr/>
          <p:nvPr/>
        </p:nvSpPr>
        <p:spPr>
          <a:xfrm>
            <a:off x="4480560" y="3520440"/>
            <a:ext cx="73152" cy="914400"/>
          </a:xfrm>
          <a:prstGeom prst="rect">
            <a:avLst/>
          </a:prstGeom>
          <a:solidFill>
            <a:srgbClr val="BDEA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8" name="Text 26"/>
          <p:cNvSpPr/>
          <p:nvPr/>
        </p:nvSpPr>
        <p:spPr>
          <a:xfrm>
            <a:off x="4681728" y="368503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PDF Reports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81728" y="4050792"/>
            <a:ext cx="267919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4E4EA"/>
                </a:solidFill>
              </a:rPr>
              <a:t>Downloaded records and reports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83880" y="352044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14394C"/>
          </a:solidFill>
          <a:ln w="12700">
            <a:solidFill>
              <a:srgbClr val="2C5A6B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31" name="Shape 29"/>
          <p:cNvSpPr/>
          <p:nvPr/>
        </p:nvSpPr>
        <p:spPr>
          <a:xfrm>
            <a:off x="8183880" y="3520440"/>
            <a:ext cx="73152" cy="914400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32" name="Text 30"/>
          <p:cNvSpPr/>
          <p:nvPr/>
        </p:nvSpPr>
        <p:spPr>
          <a:xfrm>
            <a:off x="8385048" y="368503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</a:rPr>
              <a:t>MySql.Data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85048" y="4050792"/>
            <a:ext cx="267919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4E4EA"/>
                </a:solidFill>
              </a:rPr>
              <a:t>Database connectivity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4360" y="6492240"/>
            <a:ext cx="10972800" cy="0"/>
          </a:xfrm>
          <a:prstGeom prst="line">
            <a:avLst/>
          </a:prstGeom>
          <a:noFill/>
          <a:ln w="8890">
            <a:solidFill>
              <a:srgbClr val="31596A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35" name="Text 33"/>
          <p:cNvSpPr/>
          <p:nvPr/>
        </p:nvSpPr>
        <p:spPr>
          <a:xfrm>
            <a:off x="603504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B8C4"/>
                </a:solidFill>
              </a:rPr>
              <a:t>B-SMART Barangay Health Monitoring System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265408" y="6519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B703"/>
                </a:solidFill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-731520" y="4937760"/>
            <a:ext cx="1828800" cy="182880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603504" y="512064"/>
            <a:ext cx="292608" cy="36576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996696" y="438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" y="749808"/>
            <a:ext cx="83667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tables organize people, places, health events, and service requests.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73152" cy="1234440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886968" y="203911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02A43"/>
                </a:solidFill>
              </a:rPr>
              <a:t>users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6968" y="2404872"/>
            <a:ext cx="459943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86581"/>
                </a:solidFill>
              </a:rPr>
              <a:t>Resident, staff, captain, and mayor accounts; also stores resident profile fields and account status.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45352" y="187452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Shape 12"/>
          <p:cNvSpPr/>
          <p:nvPr/>
        </p:nvSpPr>
        <p:spPr>
          <a:xfrm>
            <a:off x="6245352" y="1874520"/>
            <a:ext cx="73152" cy="1234440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6446520" y="203911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02A43"/>
                </a:solidFill>
              </a:rPr>
              <a:t>barangays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46520" y="2404872"/>
            <a:ext cx="459943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86581"/>
                </a:solidFill>
              </a:rPr>
              <a:t>Reference table that scopes users, inventory, health records, reports, and notifications.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85800" y="347472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685800" y="3474720"/>
            <a:ext cx="73152" cy="1234440"/>
          </a:xfrm>
          <a:prstGeom prst="rect">
            <a:avLst/>
          </a:prstGeom>
          <a:solidFill>
            <a:srgbClr val="2FB3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886968" y="363931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02A43"/>
                </a:solidFill>
              </a:rPr>
              <a:t>health_records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86968" y="4005072"/>
            <a:ext cx="459943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86581"/>
                </a:solidFill>
              </a:rPr>
              <a:t>Resident health entries with diagnosis, treatment, assigned doctor/nurse, dates, and resident codes.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245352" y="347472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Shape 20"/>
          <p:cNvSpPr/>
          <p:nvPr/>
        </p:nvSpPr>
        <p:spPr>
          <a:xfrm>
            <a:off x="6245352" y="3474720"/>
            <a:ext cx="73152" cy="1234440"/>
          </a:xfrm>
          <a:prstGeom prst="rect">
            <a:avLst/>
          </a:prstGeom>
          <a:solidFill>
            <a:srgbClr val="EF476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6446520" y="363931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02A43"/>
                </a:solidFill>
              </a:rPr>
              <a:t>appointments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46520" y="4005072"/>
            <a:ext cx="459943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86581"/>
                </a:solidFill>
              </a:rPr>
              <a:t>Resident bookings for available health services with approval status and notifications.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94360" y="6492240"/>
            <a:ext cx="10972800" cy="0"/>
          </a:xfrm>
          <a:prstGeom prst="line">
            <a:avLst/>
          </a:prstGeom>
          <a:noFill/>
          <a:ln w="8890">
            <a:solidFill>
              <a:srgbClr val="C6DDE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603504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C7B88"/>
                </a:solidFill>
              </a:rPr>
              <a:t>B-SMART Barangay Health Monitoring System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265408" y="6519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087E8B"/>
                </a:solidFill>
              </a:rPr>
              <a:t>07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4" name="Shape 2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5" name="Shape 3"/>
          <p:cNvSpPr/>
          <p:nvPr/>
        </p:nvSpPr>
        <p:spPr>
          <a:xfrm>
            <a:off x="-731520" y="4937760"/>
            <a:ext cx="1828800" cy="182880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6" name="Shape 4"/>
          <p:cNvSpPr/>
          <p:nvPr/>
        </p:nvSpPr>
        <p:spPr>
          <a:xfrm>
            <a:off x="603504" y="512064"/>
            <a:ext cx="292608" cy="36576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7" name="Text 5"/>
          <p:cNvSpPr/>
          <p:nvPr/>
        </p:nvSpPr>
        <p:spPr>
          <a:xfrm>
            <a:off x="996696" y="438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OPERATIONS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" y="749808"/>
            <a:ext cx="83667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Supporting tables keep supplies, notifications, and history connected to daily work.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10469880" cy="566928"/>
          </a:xfrm>
          <a:prstGeom prst="roundRect">
            <a:avLst>
              <a:gd name="adj" fmla="val 8065"/>
            </a:avLst>
          </a:prstGeom>
          <a:solidFill>
            <a:srgbClr val="EFF9FA"/>
          </a:solidFill>
          <a:ln w="1016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0" name="Text 8"/>
          <p:cNvSpPr/>
          <p:nvPr/>
        </p:nvSpPr>
        <p:spPr>
          <a:xfrm>
            <a:off x="987552" y="202082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9A5"/>
                </a:solidFill>
              </a:rPr>
              <a:t>medicines / vaccines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02082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Inventory quantity, expiry dates, barangay ownership, and archive behavior.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2697480"/>
            <a:ext cx="104698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3" name="Text 11"/>
          <p:cNvSpPr/>
          <p:nvPr/>
        </p:nvSpPr>
        <p:spPr>
          <a:xfrm>
            <a:off x="987552" y="284378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703"/>
                </a:solidFill>
              </a:rPr>
              <a:t>health_services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84378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Service catalog for resident appointment booking.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3520440"/>
            <a:ext cx="10469880" cy="566928"/>
          </a:xfrm>
          <a:prstGeom prst="roundRect">
            <a:avLst>
              <a:gd name="adj" fmla="val 8065"/>
            </a:avLst>
          </a:prstGeom>
          <a:solidFill>
            <a:srgbClr val="EFF9FA"/>
          </a:solidFill>
          <a:ln w="1016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6" name="Text 14"/>
          <p:cNvSpPr/>
          <p:nvPr/>
        </p:nvSpPr>
        <p:spPr>
          <a:xfrm>
            <a:off x="987552" y="36667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76F"/>
                </a:solidFill>
              </a:rPr>
              <a:t>notifications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366674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Role-scoped alerts for approvals, new records, registrations, and resident updates.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4343400"/>
            <a:ext cx="104698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9" name="Text 17"/>
          <p:cNvSpPr/>
          <p:nvPr/>
        </p:nvSpPr>
        <p:spPr>
          <a:xfrm>
            <a:off x="987552" y="44897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B344"/>
                </a:solidFill>
              </a:rPr>
              <a:t>archive logs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83280" y="448970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Recovered or inactive data remains traceable after archiving.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6492240"/>
            <a:ext cx="10972800" cy="0"/>
          </a:xfrm>
          <a:prstGeom prst="line">
            <a:avLst/>
          </a:prstGeom>
          <a:noFill/>
          <a:ln w="8890">
            <a:solidFill>
              <a:srgbClr val="C6DDE6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2" name="Text 20"/>
          <p:cNvSpPr/>
          <p:nvPr/>
        </p:nvSpPr>
        <p:spPr>
          <a:xfrm>
            <a:off x="603504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7B88"/>
                </a:solidFill>
              </a:rPr>
              <a:t>B-SMART Barangay Health Monitoring System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65408" y="6519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7E8B"/>
                </a:solidFill>
              </a:rPr>
              <a:t>08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-731520" y="4937760"/>
            <a:ext cx="1828800" cy="182880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603504" y="512064"/>
            <a:ext cx="292608" cy="36576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996696" y="438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DIAGRAM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3504" y="749808"/>
            <a:ext cx="83667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Forms, helpers, and services separate UI behavior from shared system logic.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21792" y="1417320"/>
            <a:ext cx="76809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86581"/>
                </a:solidFill>
              </a:rPr>
              <a:t>The diagram below uses the provided BSMART_Class_Diagram asset.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790956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397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1" name="Image 0" descr="C:\Users\Chay\AppData\Local\Temp\bsmart_ppt_597dea80f4fc4aebb0ae97967712c537\BSMART_Class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512" y="1947672"/>
            <a:ext cx="7580376" cy="41056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641080" y="2057400"/>
            <a:ext cx="2651760" cy="31546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Shape 10"/>
          <p:cNvSpPr/>
          <p:nvPr/>
        </p:nvSpPr>
        <p:spPr>
          <a:xfrm>
            <a:off x="8641080" y="2587752"/>
            <a:ext cx="73152" cy="2157984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1"/>
          <p:cNvSpPr/>
          <p:nvPr/>
        </p:nvSpPr>
        <p:spPr>
          <a:xfrm>
            <a:off x="8842248" y="2221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8842248" y="2587752"/>
            <a:ext cx="2450592" cy="21762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The form classes represent user-facing screens, while shared helpers handle IDs, notifications, navigation, settings, and report/export logic. This supports repeated workflows across mayor, staff, captain, and resident accounts.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842248" y="4507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8842248" y="4873752"/>
            <a:ext cx="2267712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594360" y="6492240"/>
            <a:ext cx="10972800" cy="0"/>
          </a:xfrm>
          <a:prstGeom prst="line">
            <a:avLst/>
          </a:prstGeom>
          <a:noFill/>
          <a:ln w="8890">
            <a:solidFill>
              <a:srgbClr val="C6DDE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8"/>
          <p:cNvSpPr/>
          <p:nvPr/>
        </p:nvSpPr>
        <p:spPr>
          <a:xfrm>
            <a:off x="603504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C7B88"/>
                </a:solidFill>
              </a:rPr>
              <a:t>B-SMART Barangay Health Monitoring System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11265408" y="6519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87E8B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58928"/>
            <a:ext cx="12191695" cy="6858000"/>
          </a:xfrm>
          <a:prstGeom prst="rect">
            <a:avLst/>
          </a:prstGeom>
          <a:solidFill>
            <a:srgbClr val="F7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-731520" y="4937760"/>
            <a:ext cx="1828800" cy="182880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603504" y="512064"/>
            <a:ext cx="292608" cy="36576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996696" y="438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RELATIONSHIP DIAGRAM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3504" y="749808"/>
            <a:ext cx="83667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Barangay scope is the anchor for accounts, health data, appointments, and inventory.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21792" y="1417320"/>
            <a:ext cx="76809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86581"/>
                </a:solidFill>
              </a:rPr>
              <a:t>The diagram below uses the provided BSMART_Entity_Diagram asset.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790956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397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1" name="Image 0" descr="C:\Users\Chay\AppData\Local\Temp\bsmart_ppt_597dea80f4fc4aebb0ae97967712c537\BSMART_Entity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512" y="1947672"/>
            <a:ext cx="7580376" cy="41056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641080" y="2057400"/>
            <a:ext cx="26517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Shape 10"/>
          <p:cNvSpPr/>
          <p:nvPr/>
        </p:nvSpPr>
        <p:spPr>
          <a:xfrm>
            <a:off x="8641080" y="2057400"/>
            <a:ext cx="73152" cy="1783080"/>
          </a:xfrm>
          <a:prstGeom prst="rect">
            <a:avLst/>
          </a:prstGeom>
          <a:solidFill>
            <a:srgbClr val="EF476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1"/>
          <p:cNvSpPr/>
          <p:nvPr/>
        </p:nvSpPr>
        <p:spPr>
          <a:xfrm>
            <a:off x="8842248" y="2221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8842248" y="2057400"/>
            <a:ext cx="2267712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One barangay can have many users, health records, appointments, medicines, and vaccines. Resident-facing workflows link back to accounts and services.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641080" y="4160520"/>
            <a:ext cx="2651760" cy="1508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Shape 14"/>
          <p:cNvSpPr/>
          <p:nvPr/>
        </p:nvSpPr>
        <p:spPr>
          <a:xfrm>
            <a:off x="8641080" y="4160520"/>
            <a:ext cx="73152" cy="1508760"/>
          </a:xfrm>
          <a:prstGeom prst="rect">
            <a:avLst/>
          </a:prstGeom>
          <a:solidFill>
            <a:srgbClr val="2FB3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5"/>
          <p:cNvSpPr/>
          <p:nvPr/>
        </p:nvSpPr>
        <p:spPr>
          <a:xfrm>
            <a:off x="8842248" y="3840480"/>
            <a:ext cx="2267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8842248" y="4480560"/>
            <a:ext cx="2049272" cy="850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Resident identity fields and generated resident codes help prevent repeated residents from being counted incorrectly.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4360" y="6492240"/>
            <a:ext cx="10972800" cy="0"/>
          </a:xfrm>
          <a:prstGeom prst="line">
            <a:avLst/>
          </a:prstGeom>
          <a:noFill/>
          <a:ln w="8890">
            <a:solidFill>
              <a:srgbClr val="C6DDE6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8"/>
          <p:cNvSpPr/>
          <p:nvPr/>
        </p:nvSpPr>
        <p:spPr>
          <a:xfrm>
            <a:off x="603504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C7B88"/>
                </a:solidFill>
              </a:rPr>
              <a:t>B-SMART Barangay Health Monitoring System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11265408" y="6519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87E8B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4" name="Shape 2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5" name="Shape 3"/>
          <p:cNvSpPr/>
          <p:nvPr/>
        </p:nvSpPr>
        <p:spPr>
          <a:xfrm>
            <a:off x="-731520" y="4937760"/>
            <a:ext cx="1828800" cy="1828800"/>
          </a:xfrm>
          <a:prstGeom prst="ellipse">
            <a:avLst/>
          </a:prstGeom>
          <a:solidFill>
            <a:srgbClr val="E1F8F7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6" name="Shape 4"/>
          <p:cNvSpPr/>
          <p:nvPr/>
        </p:nvSpPr>
        <p:spPr>
          <a:xfrm>
            <a:off x="603504" y="512064"/>
            <a:ext cx="292608" cy="36576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7" name="Text 5"/>
          <p:cNvSpPr/>
          <p:nvPr/>
        </p:nvSpPr>
        <p:spPr>
          <a:xfrm>
            <a:off x="996696" y="438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WORKFLOWS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" y="749808"/>
            <a:ext cx="83667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B-SMART connects records, reports, notifications, and PDF outputs into one loop.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353312" y="2029968"/>
            <a:ext cx="914400" cy="914400"/>
          </a:xfrm>
          <a:prstGeom prst="ellipse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0" name="Text 8"/>
          <p:cNvSpPr/>
          <p:nvPr/>
        </p:nvSpPr>
        <p:spPr>
          <a:xfrm>
            <a:off x="1353312" y="22219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1821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Register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5295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86581"/>
                </a:solidFill>
              </a:rPr>
              <a:t>Resident account created or existing record checked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04872" y="2487168"/>
            <a:ext cx="932688" cy="0"/>
          </a:xfrm>
          <a:prstGeom prst="line">
            <a:avLst/>
          </a:prstGeom>
          <a:noFill/>
          <a:ln w="17780">
            <a:solidFill>
              <a:srgbClr val="C6DDE6"/>
            </a:solidFill>
            <a:prstDash val="solid"/>
            <a:tailEnd type="triangle"/>
          </a:ln>
        </p:spPr>
        <p:txBody>
          <a:bodyPr/>
          <a:lstStyle/>
          <a:p>
            <a:endParaRPr lang="en-PH" sz="1600"/>
          </a:p>
        </p:txBody>
      </p:sp>
      <p:sp>
        <p:nvSpPr>
          <p:cNvPr id="14" name="Shape 12"/>
          <p:cNvSpPr/>
          <p:nvPr/>
        </p:nvSpPr>
        <p:spPr>
          <a:xfrm>
            <a:off x="4142232" y="2029968"/>
            <a:ext cx="914400" cy="914400"/>
          </a:xfrm>
          <a:prstGeom prst="ellipse">
            <a:avLst/>
          </a:prstGeom>
          <a:solidFill>
            <a:srgbClr val="2FB3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15" name="Text 13"/>
          <p:cNvSpPr/>
          <p:nvPr/>
        </p:nvSpPr>
        <p:spPr>
          <a:xfrm>
            <a:off x="4142232" y="22219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31821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Record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35295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86581"/>
                </a:solidFill>
              </a:rPr>
              <a:t>Staff/captain adds or updates health details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93792" y="2487168"/>
            <a:ext cx="932688" cy="0"/>
          </a:xfrm>
          <a:prstGeom prst="line">
            <a:avLst/>
          </a:prstGeom>
          <a:noFill/>
          <a:ln w="17780">
            <a:solidFill>
              <a:srgbClr val="C6DDE6"/>
            </a:solidFill>
            <a:prstDash val="solid"/>
            <a:tailEnd type="triangle"/>
          </a:ln>
        </p:spPr>
        <p:txBody>
          <a:bodyPr/>
          <a:lstStyle/>
          <a:p>
            <a:endParaRPr lang="en-PH" sz="1600"/>
          </a:p>
        </p:txBody>
      </p:sp>
      <p:sp>
        <p:nvSpPr>
          <p:cNvPr id="19" name="Shape 17"/>
          <p:cNvSpPr/>
          <p:nvPr/>
        </p:nvSpPr>
        <p:spPr>
          <a:xfrm>
            <a:off x="6931152" y="2029968"/>
            <a:ext cx="914400" cy="914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0" name="Text 18"/>
          <p:cNvSpPr/>
          <p:nvPr/>
        </p:nvSpPr>
        <p:spPr>
          <a:xfrm>
            <a:off x="6931152" y="22219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31821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Notify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5080" y="35295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86581"/>
                </a:solidFill>
              </a:rPr>
              <a:t>Role-scoped alerts appear on dashboard bell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82712" y="2487168"/>
            <a:ext cx="932688" cy="0"/>
          </a:xfrm>
          <a:prstGeom prst="line">
            <a:avLst/>
          </a:prstGeom>
          <a:noFill/>
          <a:ln w="17780">
            <a:solidFill>
              <a:srgbClr val="C6DDE6"/>
            </a:solidFill>
            <a:prstDash val="solid"/>
            <a:tailEnd type="triangle"/>
          </a:ln>
        </p:spPr>
        <p:txBody>
          <a:bodyPr/>
          <a:lstStyle/>
          <a:p>
            <a:endParaRPr lang="en-PH" sz="1600"/>
          </a:p>
        </p:txBody>
      </p:sp>
      <p:sp>
        <p:nvSpPr>
          <p:cNvPr id="24" name="Shape 22"/>
          <p:cNvSpPr/>
          <p:nvPr/>
        </p:nvSpPr>
        <p:spPr>
          <a:xfrm>
            <a:off x="9720072" y="2029968"/>
            <a:ext cx="914400" cy="91440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5" name="Text 23"/>
          <p:cNvSpPr/>
          <p:nvPr/>
        </p:nvSpPr>
        <p:spPr>
          <a:xfrm>
            <a:off x="9720072" y="22219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0" y="31821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Report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35295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86581"/>
                </a:solidFill>
              </a:rPr>
              <a:t>Tables and health summaries can be viewed or downloaded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43000" y="4800600"/>
            <a:ext cx="9829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E6EC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29" name="Shape 27"/>
          <p:cNvSpPr/>
          <p:nvPr/>
        </p:nvSpPr>
        <p:spPr>
          <a:xfrm>
            <a:off x="1143000" y="4800600"/>
            <a:ext cx="73152" cy="777240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30" name="Text 28"/>
          <p:cNvSpPr/>
          <p:nvPr/>
        </p:nvSpPr>
        <p:spPr>
          <a:xfrm>
            <a:off x="1344168" y="4727449"/>
            <a:ext cx="9445752" cy="493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Outputs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44168" y="5330952"/>
            <a:ext cx="944575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86581"/>
                </a:solidFill>
              </a:rPr>
              <a:t>Resident medical-certificate-style downloads, table-style PDFs for officials, and filtered health reports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4360" y="6492240"/>
            <a:ext cx="10972800" cy="0"/>
          </a:xfrm>
          <a:prstGeom prst="line">
            <a:avLst/>
          </a:prstGeom>
          <a:noFill/>
          <a:ln w="8890">
            <a:solidFill>
              <a:srgbClr val="C6DDE6"/>
            </a:solidFill>
            <a:prstDash val="solid"/>
          </a:ln>
        </p:spPr>
        <p:txBody>
          <a:bodyPr/>
          <a:lstStyle/>
          <a:p>
            <a:endParaRPr lang="en-PH" sz="1600"/>
          </a:p>
        </p:txBody>
      </p:sp>
      <p:sp>
        <p:nvSpPr>
          <p:cNvPr id="33" name="Text 31"/>
          <p:cNvSpPr/>
          <p:nvPr/>
        </p:nvSpPr>
        <p:spPr>
          <a:xfrm>
            <a:off x="603504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7B88"/>
                </a:solidFill>
              </a:rPr>
              <a:t>B-SMART Barangay Health Monitoring System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265408" y="6519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7E8B"/>
                </a:solidFill>
              </a:rPr>
              <a:t>11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9A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9966960" y="-731520"/>
            <a:ext cx="2560320" cy="2560320"/>
          </a:xfrm>
          <a:prstGeom prst="ellipse">
            <a:avLst/>
          </a:prstGeom>
          <a:solidFill>
            <a:srgbClr val="12384A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-731520" y="4937760"/>
            <a:ext cx="1828800" cy="1828800"/>
          </a:xfrm>
          <a:prstGeom prst="ellipse">
            <a:avLst/>
          </a:prstGeom>
          <a:solidFill>
            <a:srgbClr val="12384A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603504" y="512064"/>
            <a:ext cx="292608" cy="36576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996696" y="438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DEA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3504" y="749808"/>
            <a:ext cx="836676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B-SMART makes barangay health data easier to record, review, and act on.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21792" y="1417320"/>
            <a:ext cx="76809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77240" y="2057399"/>
            <a:ext cx="10683240" cy="31546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400" dirty="0">
                <a:solidFill>
                  <a:srgbClr val="D4E4EA"/>
                </a:solidFill>
              </a:rPr>
              <a:t>Centralizes resident and health records in MySQL</a:t>
            </a:r>
            <a:endParaRPr lang="en-US" sz="2400" dirty="0"/>
          </a:p>
          <a:p>
            <a:r>
              <a:rPr lang="en-US" sz="2400" dirty="0">
                <a:solidFill>
                  <a:srgbClr val="D4E4EA"/>
                </a:solidFill>
              </a:rPr>
              <a:t>Shows dashboard metrics and filtered health reports</a:t>
            </a:r>
            <a:endParaRPr lang="en-US" sz="2400" dirty="0"/>
          </a:p>
          <a:p>
            <a:r>
              <a:rPr lang="en-US" sz="2400" dirty="0">
                <a:solidFill>
                  <a:srgbClr val="D4E4EA"/>
                </a:solidFill>
              </a:rPr>
              <a:t>Supports resident appointments and approval notifications</a:t>
            </a:r>
            <a:endParaRPr lang="en-US" sz="2400" dirty="0"/>
          </a:p>
          <a:p>
            <a:r>
              <a:rPr lang="en-US" sz="2400" dirty="0">
                <a:solidFill>
                  <a:srgbClr val="D4E4EA"/>
                </a:solidFill>
              </a:rPr>
              <a:t>Tracks medicines and vaccines with expiry awareness</a:t>
            </a:r>
            <a:endParaRPr lang="en-US" sz="2400" dirty="0"/>
          </a:p>
          <a:p>
            <a:r>
              <a:rPr lang="en-US" sz="2400" dirty="0">
                <a:solidFill>
                  <a:srgbClr val="D4E4EA"/>
                </a:solidFill>
              </a:rPr>
              <a:t>Uses class and entity structures that match the implementation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818120" y="24871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18120" y="29718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6492240"/>
            <a:ext cx="10972800" cy="0"/>
          </a:xfrm>
          <a:prstGeom prst="line">
            <a:avLst/>
          </a:prstGeom>
          <a:noFill/>
          <a:ln w="8890">
            <a:solidFill>
              <a:srgbClr val="31596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603504" y="65653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FB8C4"/>
                </a:solidFill>
              </a:rPr>
              <a:t>B-SMART Barangay Health Monitoring System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265408" y="65196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B703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932</Words>
  <Application>Microsoft Office PowerPoint</Application>
  <PresentationFormat>Widescreen</PresentationFormat>
  <Paragraphs>157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B-SMART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B-SMART System Presentation</dc:title>
  <dc:subject>B-SMART Barangay Health Monitoring System</dc:subject>
  <dc:creator>B-SMART</dc:creator>
  <cp:lastModifiedBy>Richellene Mae P. Tallo</cp:lastModifiedBy>
  <cp:revision>4</cp:revision>
  <dcterms:created xsi:type="dcterms:W3CDTF">2026-05-06T20:24:12Z</dcterms:created>
  <dcterms:modified xsi:type="dcterms:W3CDTF">2026-05-12T03:38:28Z</dcterms:modified>
</cp:coreProperties>
</file>